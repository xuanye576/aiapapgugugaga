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57" r:id="rId6"/>
    <p:sldId id="258" r:id="rId7"/>
    <p:sldId id="259" r:id="rId8"/>
    <p:sldId id="263" r:id="rId9"/>
    <p:sldId id="264" r:id="rId10"/>
    <p:sldId id="265" r:id="rId11"/>
    <p:sldId id="266" r:id="rId12"/>
    <p:sldId id="260" r:id="rId13"/>
    <p:sldId id="261" r:id="rId14"/>
    <p:sldId id="262" r:id="rId15"/>
    <p:sldId id="267" r:id="rId16"/>
    <p:sldId id="268" r:id="rId17"/>
    <p:sldId id="269" r:id="rId18"/>
    <p:sldId id="270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0944D2C-5C52-45FB-A4AB-88FB98C151C7}" v="16" dt="2026-01-25T18:52:58.93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3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702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raki, Iman - (imanmiraki)" userId="0471be00-1424-4006-bc91-e635f1b2407c" providerId="ADAL" clId="{7D20F5F0-E73A-48C9-8EEC-354DB79C8535}"/>
    <pc:docChg chg="undo custSel addSld modSld">
      <pc:chgData name="Miraki, Iman - (imanmiraki)" userId="0471be00-1424-4006-bc91-e635f1b2407c" providerId="ADAL" clId="{7D20F5F0-E73A-48C9-8EEC-354DB79C8535}" dt="2026-01-23T20:08:11.603" v="328" actId="1037"/>
      <pc:docMkLst>
        <pc:docMk/>
      </pc:docMkLst>
      <pc:sldChg chg="addSp delSp modSp add mod">
        <pc:chgData name="Miraki, Iman - (imanmiraki)" userId="0471be00-1424-4006-bc91-e635f1b2407c" providerId="ADAL" clId="{7D20F5F0-E73A-48C9-8EEC-354DB79C8535}" dt="2026-01-23T17:29:13.337" v="270" actId="9"/>
        <pc:sldMkLst>
          <pc:docMk/>
          <pc:sldMk cId="671500976" sldId="267"/>
        </pc:sldMkLst>
        <pc:spChg chg="mod">
          <ac:chgData name="Miraki, Iman - (imanmiraki)" userId="0471be00-1424-4006-bc91-e635f1b2407c" providerId="ADAL" clId="{7D20F5F0-E73A-48C9-8EEC-354DB79C8535}" dt="2026-01-23T17:25:47.707" v="249" actId="20577"/>
          <ac:spMkLst>
            <pc:docMk/>
            <pc:sldMk cId="671500976" sldId="267"/>
            <ac:spMk id="2" creationId="{10410066-8563-B029-0962-E577CCBAB767}"/>
          </ac:spMkLst>
        </pc:spChg>
        <pc:spChg chg="mod">
          <ac:chgData name="Miraki, Iman - (imanmiraki)" userId="0471be00-1424-4006-bc91-e635f1b2407c" providerId="ADAL" clId="{7D20F5F0-E73A-48C9-8EEC-354DB79C8535}" dt="2026-01-23T17:29:13.337" v="270" actId="9"/>
          <ac:spMkLst>
            <pc:docMk/>
            <pc:sldMk cId="671500976" sldId="267"/>
            <ac:spMk id="3" creationId="{2983E3E2-8AD1-1A44-7787-1E6F317BC12B}"/>
          </ac:spMkLst>
        </pc:spChg>
        <pc:picChg chg="add mod">
          <ac:chgData name="Miraki, Iman - (imanmiraki)" userId="0471be00-1424-4006-bc91-e635f1b2407c" providerId="ADAL" clId="{7D20F5F0-E73A-48C9-8EEC-354DB79C8535}" dt="2026-01-23T17:26:35.411" v="253" actId="1076"/>
          <ac:picMkLst>
            <pc:docMk/>
            <pc:sldMk cId="671500976" sldId="267"/>
            <ac:picMk id="1026" creationId="{31DD1990-F8DD-48D6-CF30-FA98C022BABF}"/>
          </ac:picMkLst>
        </pc:picChg>
        <pc:picChg chg="add mod">
          <ac:chgData name="Miraki, Iman - (imanmiraki)" userId="0471be00-1424-4006-bc91-e635f1b2407c" providerId="ADAL" clId="{7D20F5F0-E73A-48C9-8EEC-354DB79C8535}" dt="2026-01-23T17:28:41.930" v="265" actId="1076"/>
          <ac:picMkLst>
            <pc:docMk/>
            <pc:sldMk cId="671500976" sldId="267"/>
            <ac:picMk id="1028" creationId="{C15E8788-1AF5-1CAA-F536-382C471059DB}"/>
          </ac:picMkLst>
        </pc:picChg>
      </pc:sldChg>
      <pc:sldChg chg="addSp delSp modSp add mod">
        <pc:chgData name="Miraki, Iman - (imanmiraki)" userId="0471be00-1424-4006-bc91-e635f1b2407c" providerId="ADAL" clId="{7D20F5F0-E73A-48C9-8EEC-354DB79C8535}" dt="2026-01-23T20:00:49.279" v="289" actId="20577"/>
        <pc:sldMkLst>
          <pc:docMk/>
          <pc:sldMk cId="2806027456" sldId="268"/>
        </pc:sldMkLst>
        <pc:spChg chg="mod">
          <ac:chgData name="Miraki, Iman - (imanmiraki)" userId="0471be00-1424-4006-bc91-e635f1b2407c" providerId="ADAL" clId="{7D20F5F0-E73A-48C9-8EEC-354DB79C8535}" dt="2026-01-23T20:00:49.279" v="289" actId="20577"/>
          <ac:spMkLst>
            <pc:docMk/>
            <pc:sldMk cId="2806027456" sldId="268"/>
            <ac:spMk id="2" creationId="{8C38DB9B-C735-70AD-C337-8EC8990F20D3}"/>
          </ac:spMkLst>
        </pc:spChg>
        <pc:spChg chg="mod">
          <ac:chgData name="Miraki, Iman - (imanmiraki)" userId="0471be00-1424-4006-bc91-e635f1b2407c" providerId="ADAL" clId="{7D20F5F0-E73A-48C9-8EEC-354DB79C8535}" dt="2026-01-23T19:38:03.937" v="273"/>
          <ac:spMkLst>
            <pc:docMk/>
            <pc:sldMk cId="2806027456" sldId="268"/>
            <ac:spMk id="3" creationId="{A35C1FC8-FDAD-D3E3-627A-3F8EF7746028}"/>
          </ac:spMkLst>
        </pc:spChg>
        <pc:picChg chg="add mod">
          <ac:chgData name="Miraki, Iman - (imanmiraki)" userId="0471be00-1424-4006-bc91-e635f1b2407c" providerId="ADAL" clId="{7D20F5F0-E73A-48C9-8EEC-354DB79C8535}" dt="2026-01-23T19:39:57.039" v="285" actId="1076"/>
          <ac:picMkLst>
            <pc:docMk/>
            <pc:sldMk cId="2806027456" sldId="268"/>
            <ac:picMk id="2050" creationId="{BE183250-1CFB-BB20-CA88-93FE140DD39A}"/>
          </ac:picMkLst>
        </pc:picChg>
        <pc:picChg chg="add mod">
          <ac:chgData name="Miraki, Iman - (imanmiraki)" userId="0471be00-1424-4006-bc91-e635f1b2407c" providerId="ADAL" clId="{7D20F5F0-E73A-48C9-8EEC-354DB79C8535}" dt="2026-01-23T19:40:04.139" v="287" actId="14100"/>
          <ac:picMkLst>
            <pc:docMk/>
            <pc:sldMk cId="2806027456" sldId="268"/>
            <ac:picMk id="2052" creationId="{191F2FA6-620E-E6CC-999A-CB66F4205212}"/>
          </ac:picMkLst>
        </pc:picChg>
      </pc:sldChg>
      <pc:sldChg chg="addSp delSp modSp add mod">
        <pc:chgData name="Miraki, Iman - (imanmiraki)" userId="0471be00-1424-4006-bc91-e635f1b2407c" providerId="ADAL" clId="{7D20F5F0-E73A-48C9-8EEC-354DB79C8535}" dt="2026-01-23T20:08:11.603" v="328" actId="1037"/>
        <pc:sldMkLst>
          <pc:docMk/>
          <pc:sldMk cId="474525530" sldId="269"/>
        </pc:sldMkLst>
        <pc:spChg chg="mod">
          <ac:chgData name="Miraki, Iman - (imanmiraki)" userId="0471be00-1424-4006-bc91-e635f1b2407c" providerId="ADAL" clId="{7D20F5F0-E73A-48C9-8EEC-354DB79C8535}" dt="2026-01-23T20:01:05.884" v="292" actId="20577"/>
          <ac:spMkLst>
            <pc:docMk/>
            <pc:sldMk cId="474525530" sldId="269"/>
            <ac:spMk id="2" creationId="{370AF2B2-77F2-E2D5-3C84-305B0BD6D591}"/>
          </ac:spMkLst>
        </pc:spChg>
        <pc:spChg chg="mod">
          <ac:chgData name="Miraki, Iman - (imanmiraki)" userId="0471be00-1424-4006-bc91-e635f1b2407c" providerId="ADAL" clId="{7D20F5F0-E73A-48C9-8EEC-354DB79C8535}" dt="2026-01-23T20:05:44.775" v="297"/>
          <ac:spMkLst>
            <pc:docMk/>
            <pc:sldMk cId="474525530" sldId="269"/>
            <ac:spMk id="3" creationId="{40A63CE6-E931-A0DC-4E25-44D5944C97B2}"/>
          </ac:spMkLst>
        </pc:spChg>
        <pc:picChg chg="add mod">
          <ac:chgData name="Miraki, Iman - (imanmiraki)" userId="0471be00-1424-4006-bc91-e635f1b2407c" providerId="ADAL" clId="{7D20F5F0-E73A-48C9-8EEC-354DB79C8535}" dt="2026-01-23T20:08:06.560" v="316" actId="1038"/>
          <ac:picMkLst>
            <pc:docMk/>
            <pc:sldMk cId="474525530" sldId="269"/>
            <ac:picMk id="3074" creationId="{80751360-B374-FFF3-BFFF-9C848BD0B27E}"/>
          </ac:picMkLst>
        </pc:picChg>
        <pc:picChg chg="add mod">
          <ac:chgData name="Miraki, Iman - (imanmiraki)" userId="0471be00-1424-4006-bc91-e635f1b2407c" providerId="ADAL" clId="{7D20F5F0-E73A-48C9-8EEC-354DB79C8535}" dt="2026-01-23T20:08:11.603" v="328" actId="1037"/>
          <ac:picMkLst>
            <pc:docMk/>
            <pc:sldMk cId="474525530" sldId="269"/>
            <ac:picMk id="3076" creationId="{CB50B337-2D82-A360-7660-4E24DF4157C8}"/>
          </ac:picMkLst>
        </pc:picChg>
      </pc:sldChg>
    </pc:docChg>
  </pc:docChgLst>
  <pc:docChgLst>
    <pc:chgData name="Miraki, Iman - (imanmiraki)" userId="0471be00-1424-4006-bc91-e635f1b2407c" providerId="ADAL" clId="{FC63ECFC-E5C7-430D-943E-F12772CD89D0}"/>
    <pc:docChg chg="custSel addSld modSld">
      <pc:chgData name="Miraki, Iman - (imanmiraki)" userId="0471be00-1424-4006-bc91-e635f1b2407c" providerId="ADAL" clId="{FC63ECFC-E5C7-430D-943E-F12772CD89D0}" dt="2026-01-25T18:53:26.668" v="21" actId="20577"/>
      <pc:docMkLst>
        <pc:docMk/>
      </pc:docMkLst>
      <pc:sldChg chg="addSp delSp modSp add mod">
        <pc:chgData name="Miraki, Iman - (imanmiraki)" userId="0471be00-1424-4006-bc91-e635f1b2407c" providerId="ADAL" clId="{FC63ECFC-E5C7-430D-943E-F12772CD89D0}" dt="2026-01-25T18:53:26.668" v="21" actId="20577"/>
        <pc:sldMkLst>
          <pc:docMk/>
          <pc:sldMk cId="3975236819" sldId="270"/>
        </pc:sldMkLst>
        <pc:spChg chg="mod">
          <ac:chgData name="Miraki, Iman - (imanmiraki)" userId="0471be00-1424-4006-bc91-e635f1b2407c" providerId="ADAL" clId="{FC63ECFC-E5C7-430D-943E-F12772CD89D0}" dt="2026-01-25T18:53:26.668" v="21" actId="20577"/>
          <ac:spMkLst>
            <pc:docMk/>
            <pc:sldMk cId="3975236819" sldId="270"/>
            <ac:spMk id="2" creationId="{26AFEF87-2E5D-D6CC-F77D-9207E14F1CC9}"/>
          </ac:spMkLst>
        </pc:spChg>
        <pc:spChg chg="mod">
          <ac:chgData name="Miraki, Iman - (imanmiraki)" userId="0471be00-1424-4006-bc91-e635f1b2407c" providerId="ADAL" clId="{FC63ECFC-E5C7-430D-943E-F12772CD89D0}" dt="2026-01-25T18:53:15.223" v="19" actId="20577"/>
          <ac:spMkLst>
            <pc:docMk/>
            <pc:sldMk cId="3975236819" sldId="270"/>
            <ac:spMk id="3" creationId="{0AB52140-2F7C-7A06-8054-0CFC4972F73B}"/>
          </ac:spMkLst>
        </pc:spChg>
        <pc:picChg chg="add mod">
          <ac:chgData name="Miraki, Iman - (imanmiraki)" userId="0471be00-1424-4006-bc91-e635f1b2407c" providerId="ADAL" clId="{FC63ECFC-E5C7-430D-943E-F12772CD89D0}" dt="2026-01-25T18:50:21.956" v="12" actId="14100"/>
          <ac:picMkLst>
            <pc:docMk/>
            <pc:sldMk cId="3975236819" sldId="270"/>
            <ac:picMk id="1026" creationId="{48628674-4079-A020-C8DA-C07A5D2CB2BD}"/>
          </ac:picMkLst>
        </pc:picChg>
        <pc:picChg chg="add mod">
          <ac:chgData name="Miraki, Iman - (imanmiraki)" userId="0471be00-1424-4006-bc91-e635f1b2407c" providerId="ADAL" clId="{FC63ECFC-E5C7-430D-943E-F12772CD89D0}" dt="2026-01-25T18:50:30.763" v="14" actId="1076"/>
          <ac:picMkLst>
            <pc:docMk/>
            <pc:sldMk cId="3975236819" sldId="270"/>
            <ac:picMk id="1028" creationId="{B50C6F75-E004-FD45-1BDD-CA50AC506020}"/>
          </ac:picMkLst>
        </pc:picChg>
        <pc:picChg chg="del">
          <ac:chgData name="Miraki, Iman - (imanmiraki)" userId="0471be00-1424-4006-bc91-e635f1b2407c" providerId="ADAL" clId="{FC63ECFC-E5C7-430D-943E-F12772CD89D0}" dt="2026-01-25T18:48:38.118" v="1" actId="478"/>
          <ac:picMkLst>
            <pc:docMk/>
            <pc:sldMk cId="3975236819" sldId="270"/>
            <ac:picMk id="3074" creationId="{BFAD295F-6808-78FF-9C49-2F0E3D7162FD}"/>
          </ac:picMkLst>
        </pc:picChg>
        <pc:picChg chg="del">
          <ac:chgData name="Miraki, Iman - (imanmiraki)" userId="0471be00-1424-4006-bc91-e635f1b2407c" providerId="ADAL" clId="{FC63ECFC-E5C7-430D-943E-F12772CD89D0}" dt="2026-01-25T18:48:57.513" v="6" actId="478"/>
          <ac:picMkLst>
            <pc:docMk/>
            <pc:sldMk cId="3975236819" sldId="270"/>
            <ac:picMk id="3076" creationId="{B2FD614D-6CA6-E3A5-D597-D38E0EE66B62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0298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5684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73737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1/25/2026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3138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1/25/2026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2507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1/25/2026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743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1/25/2026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360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1/25/2026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3834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1/25/2026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9857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8211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27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5420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E448DB1-4196-18A6-15DA-C72635C1B1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Video 3" descr="Open Field With Satellite Dish">
            <a:extLst>
              <a:ext uri="{FF2B5EF4-FFF2-40B4-BE49-F238E27FC236}">
                <a16:creationId xmlns:a16="http://schemas.microsoft.com/office/drawing/2014/main" id="{E2EE0D42-5964-B982-53E9-E686D704B6A2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t="284" r="-1" b="-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9CCD9CD-49AE-3D3E-923B-81ECD3FBF7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2015" y="-752015"/>
            <a:ext cx="6858000" cy="836203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49000">
                <a:srgbClr val="000000">
                  <a:alpha val="47000"/>
                </a:srgbClr>
              </a:gs>
              <a:gs pos="100000">
                <a:srgbClr val="000000">
                  <a:alpha val="6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60DAA7-4267-6839-DC88-8C8F88E9D9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60340" y="216991"/>
            <a:ext cx="4671319" cy="188580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AI Patch Antenna Design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48C111-2220-E549-8237-DBD6ECCC5F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3916" y="4966433"/>
            <a:ext cx="4671319" cy="1381455"/>
          </a:xfrm>
        </p:spPr>
        <p:txBody>
          <a:bodyPr>
            <a:normAutofit/>
          </a:bodyPr>
          <a:lstStyle/>
          <a:p>
            <a:pPr algn="l"/>
            <a:r>
              <a:rPr lang="en-US" b="1" dirty="0">
                <a:solidFill>
                  <a:srgbClr val="FFFFFF"/>
                </a:solidFill>
              </a:rPr>
              <a:t>University of Arizona </a:t>
            </a:r>
          </a:p>
          <a:p>
            <a:pPr algn="l"/>
            <a:r>
              <a:rPr lang="en-US" dirty="0">
                <a:solidFill>
                  <a:srgbClr val="FFFFFF"/>
                </a:solidFill>
              </a:rPr>
              <a:t>Office of Dr. Xin </a:t>
            </a:r>
          </a:p>
          <a:p>
            <a:pPr algn="l"/>
            <a:r>
              <a:rPr lang="en-US" dirty="0">
                <a:solidFill>
                  <a:srgbClr val="FFFFFF"/>
                </a:solidFill>
              </a:rPr>
              <a:t>Support of Dr. Liu</a:t>
            </a:r>
          </a:p>
        </p:txBody>
      </p:sp>
    </p:spTree>
    <p:extLst>
      <p:ext uri="{BB962C8B-B14F-4D97-AF65-F5344CB8AC3E}">
        <p14:creationId xmlns:p14="http://schemas.microsoft.com/office/powerpoint/2010/main" val="2926904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749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F882C-6D78-0B34-C049-B34D8D939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498" y="274320"/>
            <a:ext cx="10653578" cy="532015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 </a:t>
            </a:r>
            <a:r>
              <a:rPr lang="en-US" dirty="0" err="1"/>
              <a:t>dmodel</a:t>
            </a:r>
            <a:r>
              <a:rPr lang="en-US" dirty="0"/>
              <a:t> and </a:t>
            </a:r>
            <a:r>
              <a:rPr lang="en-US" dirty="0" err="1"/>
              <a:t>ffn_hidden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5F88AF-AA03-8AE1-C51E-BBDD5BB319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233" y="1013557"/>
            <a:ext cx="5752406" cy="4902782"/>
          </a:xfrm>
        </p:spPr>
        <p:txBody>
          <a:bodyPr/>
          <a:lstStyle/>
          <a:p>
            <a:pPr marL="91440">
              <a:lnSpc>
                <a:spcPct val="100000"/>
              </a:lnSpc>
            </a:pPr>
            <a:r>
              <a:rPr lang="da-DK" dirty="0"/>
              <a:t>dmodel = 128</a:t>
            </a:r>
          </a:p>
          <a:p>
            <a:pPr marL="91440">
              <a:lnSpc>
                <a:spcPct val="100000"/>
              </a:lnSpc>
            </a:pPr>
            <a:r>
              <a:rPr lang="da-DK" dirty="0"/>
              <a:t>ffn_hidden = 256</a:t>
            </a:r>
          </a:p>
          <a:p>
            <a:pPr marL="91440">
              <a:lnSpc>
                <a:spcPct val="100000"/>
              </a:lnSpc>
            </a:pPr>
            <a:r>
              <a:rPr lang="en-US" dirty="0"/>
              <a:t>Best validation loss: 2.198567876863719 </a:t>
            </a:r>
            <a:r>
              <a:rPr lang="da-DK" dirty="0"/>
              <a:t>(Epoch Max 018)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7D3B7FE-87A5-CF3B-171B-52BB89862350}"/>
              </a:ext>
            </a:extLst>
          </p:cNvPr>
          <p:cNvSpPr txBox="1">
            <a:spLocks/>
          </p:cNvSpPr>
          <p:nvPr/>
        </p:nvSpPr>
        <p:spPr>
          <a:xfrm>
            <a:off x="6096000" y="1202723"/>
            <a:ext cx="5752406" cy="49027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da-DK" dirty="0"/>
              <a:t>dmodel = 64</a:t>
            </a:r>
          </a:p>
          <a:p>
            <a:pPr>
              <a:lnSpc>
                <a:spcPct val="100000"/>
              </a:lnSpc>
            </a:pPr>
            <a:r>
              <a:rPr lang="da-DK" dirty="0"/>
              <a:t>ffn_hidden </a:t>
            </a:r>
            <a:r>
              <a:rPr lang="da-DK"/>
              <a:t>= 128  (Effective on Training)</a:t>
            </a:r>
            <a:endParaRPr lang="da-DK" dirty="0"/>
          </a:p>
          <a:p>
            <a:pPr>
              <a:lnSpc>
                <a:spcPct val="100000"/>
              </a:lnSpc>
            </a:pPr>
            <a:r>
              <a:rPr lang="en-US" dirty="0"/>
              <a:t>Best validation loss: 2.200876880530736 (Epoch Max 035)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D6D1B23E-42C4-FEF8-5656-964A4F0B2B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098" y="2720240"/>
            <a:ext cx="4967050" cy="37055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FF953127-8698-EF83-EF7C-7703EF3A57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3858" y="2869532"/>
            <a:ext cx="4798218" cy="3579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39249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0D0D3A-442A-9F01-F6BE-83AAC10AB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B57B9-21F5-C3EC-2F37-8E66B6F514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498" y="274320"/>
            <a:ext cx="10653578" cy="532015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Num _ </a:t>
            </a:r>
            <a:r>
              <a:rPr lang="en-US" dirty="0" err="1"/>
              <a:t>trasformer</a:t>
            </a:r>
            <a:r>
              <a:rPr lang="en-US" dirty="0"/>
              <a:t>_ layers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A1000F-5329-C280-B23E-24890528CB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881" y="857991"/>
            <a:ext cx="5752406" cy="4902782"/>
          </a:xfrm>
        </p:spPr>
        <p:txBody>
          <a:bodyPr/>
          <a:lstStyle/>
          <a:p>
            <a:pPr marL="91440">
              <a:lnSpc>
                <a:spcPct val="100000"/>
              </a:lnSpc>
            </a:pPr>
            <a:r>
              <a:rPr lang="da-DK" dirty="0"/>
              <a:t>dmodel = 128</a:t>
            </a:r>
          </a:p>
          <a:p>
            <a:pPr marL="91440">
              <a:lnSpc>
                <a:spcPct val="100000"/>
              </a:lnSpc>
            </a:pPr>
            <a:r>
              <a:rPr lang="da-DK" dirty="0"/>
              <a:t>ffn_hidden = 256</a:t>
            </a:r>
          </a:p>
          <a:p>
            <a:pPr marL="91440">
              <a:lnSpc>
                <a:spcPct val="100000"/>
              </a:lnSpc>
            </a:pPr>
            <a:r>
              <a:rPr lang="da-DK" dirty="0"/>
              <a:t>Num_transformer_layers = 2</a:t>
            </a:r>
          </a:p>
          <a:p>
            <a:pPr marL="91440">
              <a:lnSpc>
                <a:spcPct val="100000"/>
              </a:lnSpc>
            </a:pPr>
            <a:r>
              <a:rPr lang="en-US" dirty="0"/>
              <a:t>Best validation loss: 2.198567876863719 </a:t>
            </a:r>
            <a:r>
              <a:rPr lang="da-DK" dirty="0"/>
              <a:t>(Epoch Max 018)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A8208B2-314F-D22A-3E15-8BD794CB35E3}"/>
              </a:ext>
            </a:extLst>
          </p:cNvPr>
          <p:cNvSpPr txBox="1">
            <a:spLocks/>
          </p:cNvSpPr>
          <p:nvPr/>
        </p:nvSpPr>
        <p:spPr>
          <a:xfrm>
            <a:off x="6096000" y="1013557"/>
            <a:ext cx="5752406" cy="49027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da-DK" dirty="0"/>
              <a:t>dmodel = 128</a:t>
            </a:r>
          </a:p>
          <a:p>
            <a:pPr>
              <a:lnSpc>
                <a:spcPct val="100000"/>
              </a:lnSpc>
            </a:pPr>
            <a:r>
              <a:rPr lang="da-DK" dirty="0"/>
              <a:t>ffn_hidden = 256</a:t>
            </a:r>
          </a:p>
          <a:p>
            <a:pPr>
              <a:lnSpc>
                <a:spcPct val="100000"/>
              </a:lnSpc>
            </a:pPr>
            <a:r>
              <a:rPr lang="da-DK" dirty="0"/>
              <a:t>Num_transformer_layers = 1</a:t>
            </a:r>
          </a:p>
          <a:p>
            <a:pPr>
              <a:lnSpc>
                <a:spcPct val="100000"/>
              </a:lnSpc>
            </a:pPr>
            <a:r>
              <a:rPr lang="en-US" dirty="0"/>
              <a:t>Best validation loss: 2.199937058453584 (Epoch Max 013)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794D9A59-7052-995D-D2D9-FB0C7BBDB0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594" y="2956666"/>
            <a:ext cx="4967050" cy="37055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BB127538-57FD-FB72-8930-5DCEF9A7CE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4301" y="3022566"/>
            <a:ext cx="4790385" cy="35737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629751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BF732B-3639-AF58-4EFC-6B68E0890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84AB4-51F9-F2A6-8B89-A9166D165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498" y="274320"/>
            <a:ext cx="10653578" cy="532015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Dropout and Weight Decay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D6FD26-2EA7-CF76-E37A-EF01381367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881" y="857991"/>
            <a:ext cx="5752406" cy="4902782"/>
          </a:xfrm>
        </p:spPr>
        <p:txBody>
          <a:bodyPr/>
          <a:lstStyle/>
          <a:p>
            <a:pPr marL="91440">
              <a:lnSpc>
                <a:spcPct val="100000"/>
              </a:lnSpc>
            </a:pPr>
            <a:r>
              <a:rPr lang="da-DK" dirty="0"/>
              <a:t>dropout = 0.1</a:t>
            </a:r>
          </a:p>
          <a:p>
            <a:pPr marL="91440">
              <a:lnSpc>
                <a:spcPct val="100000"/>
              </a:lnSpc>
            </a:pPr>
            <a:r>
              <a:rPr lang="da-DK" dirty="0"/>
              <a:t>Weight_decay= 1e-4</a:t>
            </a:r>
          </a:p>
          <a:p>
            <a:pPr marL="91440">
              <a:lnSpc>
                <a:spcPct val="100000"/>
              </a:lnSpc>
            </a:pPr>
            <a:r>
              <a:rPr lang="en-US" dirty="0"/>
              <a:t>Best validation loss: 2.199623294811153 </a:t>
            </a:r>
            <a:r>
              <a:rPr lang="da-DK" dirty="0"/>
              <a:t>(Epoch Max 027)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D3DC276-398F-882F-81B2-EB917E9FF1CE}"/>
              </a:ext>
            </a:extLst>
          </p:cNvPr>
          <p:cNvSpPr txBox="1">
            <a:spLocks/>
          </p:cNvSpPr>
          <p:nvPr/>
        </p:nvSpPr>
        <p:spPr>
          <a:xfrm>
            <a:off x="6096000" y="1013557"/>
            <a:ext cx="5752406" cy="49027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">
              <a:lnSpc>
                <a:spcPct val="100000"/>
              </a:lnSpc>
            </a:pPr>
            <a:r>
              <a:rPr lang="da-DK" dirty="0"/>
              <a:t>dropout = 0.3</a:t>
            </a:r>
          </a:p>
          <a:p>
            <a:pPr marL="91440">
              <a:lnSpc>
                <a:spcPct val="100000"/>
              </a:lnSpc>
            </a:pPr>
            <a:r>
              <a:rPr lang="da-DK" dirty="0"/>
              <a:t>Weight_decay= 1e-5</a:t>
            </a:r>
          </a:p>
          <a:p>
            <a:pPr>
              <a:lnSpc>
                <a:spcPct val="100000"/>
              </a:lnSpc>
            </a:pPr>
            <a:r>
              <a:rPr lang="en-US" dirty="0"/>
              <a:t>Best validation loss: 2.1997353084123312 (Epoch Max 032)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B2E53312-DB2D-7416-9EAF-B1BDE43F56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594" y="2955482"/>
            <a:ext cx="4970225" cy="37079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91371A50-713A-1BBE-970E-5221B09E5F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3727" y="2754926"/>
            <a:ext cx="5098349" cy="38035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29185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BF258-21FA-81BE-DFB7-301E3A32A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2214A-14FE-30A4-5111-E6A4A1DC0E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498" y="274320"/>
            <a:ext cx="10653578" cy="532015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Augmentation on X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2F28A0-9FE8-48C2-C3F4-CCD487C5BB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881" y="857991"/>
            <a:ext cx="5752406" cy="733065"/>
          </a:xfrm>
        </p:spPr>
        <p:txBody>
          <a:bodyPr/>
          <a:lstStyle/>
          <a:p>
            <a:pPr marL="91440">
              <a:lnSpc>
                <a:spcPct val="100000"/>
              </a:lnSpc>
            </a:pPr>
            <a:r>
              <a:rPr lang="en-US" dirty="0"/>
              <a:t>R1-6 Augmentation on Y data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C640D0E-F2B7-16DE-EB8A-73A1B8C200FF}"/>
              </a:ext>
            </a:extLst>
          </p:cNvPr>
          <p:cNvSpPr txBox="1">
            <a:spLocks/>
          </p:cNvSpPr>
          <p:nvPr/>
        </p:nvSpPr>
        <p:spPr>
          <a:xfrm>
            <a:off x="6096000" y="1013557"/>
            <a:ext cx="5752406" cy="49027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">
              <a:lnSpc>
                <a:spcPct val="100000"/>
              </a:lnSpc>
            </a:pPr>
            <a:r>
              <a:rPr lang="en-US" dirty="0"/>
              <a:t>R1-7 (Augmentation on X data only)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7901AB75-96B1-6ACC-D8D0-0B5449EB1C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593" y="2668907"/>
            <a:ext cx="5247463" cy="3914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>
            <a:extLst>
              <a:ext uri="{FF2B5EF4-FFF2-40B4-BE49-F238E27FC236}">
                <a16:creationId xmlns:a16="http://schemas.microsoft.com/office/drawing/2014/main" id="{EC7371A1-5086-57EF-3C1C-31E42938D8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8593" y="2668906"/>
            <a:ext cx="5271135" cy="39324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737252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DD53F2-D0EF-5916-58E8-BE2F9C550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C6F61-268D-4443-72CC-DDD5D594F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498" y="274320"/>
            <a:ext cx="10653578" cy="532015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Real Value, Magnitude Only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E715A51-04F7-165D-D697-39CFABCFF9A0}"/>
              </a:ext>
            </a:extLst>
          </p:cNvPr>
          <p:cNvSpPr txBox="1">
            <a:spLocks/>
          </p:cNvSpPr>
          <p:nvPr/>
        </p:nvSpPr>
        <p:spPr>
          <a:xfrm>
            <a:off x="6096000" y="1013557"/>
            <a:ext cx="5752406" cy="49027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">
              <a:lnSpc>
                <a:spcPct val="100000"/>
              </a:lnSpc>
            </a:pPr>
            <a:r>
              <a:rPr lang="en-US" dirty="0"/>
              <a:t>R1-8 (Augmentation on X data only and Magnitude only)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D3F643D-4774-DA82-F890-0DE198ABF071}"/>
              </a:ext>
            </a:extLst>
          </p:cNvPr>
          <p:cNvSpPr txBox="1">
            <a:spLocks/>
          </p:cNvSpPr>
          <p:nvPr/>
        </p:nvSpPr>
        <p:spPr>
          <a:xfrm>
            <a:off x="106218" y="1013557"/>
            <a:ext cx="5752406" cy="49027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">
              <a:lnSpc>
                <a:spcPct val="100000"/>
              </a:lnSpc>
            </a:pPr>
            <a:r>
              <a:rPr lang="en-US" dirty="0"/>
              <a:t>R1-7 (Augmentation on X data only)</a:t>
            </a:r>
          </a:p>
        </p:txBody>
      </p:sp>
      <p:pic>
        <p:nvPicPr>
          <p:cNvPr id="10" name="Picture 4">
            <a:extLst>
              <a:ext uri="{FF2B5EF4-FFF2-40B4-BE49-F238E27FC236}">
                <a16:creationId xmlns:a16="http://schemas.microsoft.com/office/drawing/2014/main" id="{E9CFA9E4-DC17-FBC9-BC3F-ACFDD83ABE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811" y="2668906"/>
            <a:ext cx="5271135" cy="39324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A336CBE1-760F-BB69-3190-C4C578A974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9769" y="2890981"/>
            <a:ext cx="5083420" cy="37923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894160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8D777F-CB97-CFA5-FE15-52B9899E2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33CFA-D984-537B-42C9-0B134DDC3B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498" y="274320"/>
            <a:ext cx="10653578" cy="532015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Shrink Model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7911DF8-5C7D-7FD8-8519-269A0BC1C17A}"/>
              </a:ext>
            </a:extLst>
          </p:cNvPr>
          <p:cNvSpPr txBox="1">
            <a:spLocks/>
          </p:cNvSpPr>
          <p:nvPr/>
        </p:nvSpPr>
        <p:spPr>
          <a:xfrm>
            <a:off x="452582" y="953684"/>
            <a:ext cx="5752406" cy="10923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">
              <a:lnSpc>
                <a:spcPct val="100000"/>
              </a:lnSpc>
            </a:pPr>
            <a:r>
              <a:rPr lang="en-US" dirty="0"/>
              <a:t>R1-8 (Augmentation on X data only and Magnitude only)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7E4BD37C-84CF-4AD2-4342-93152DF39A1A}"/>
              </a:ext>
            </a:extLst>
          </p:cNvPr>
          <p:cNvSpPr txBox="1">
            <a:spLocks/>
          </p:cNvSpPr>
          <p:nvPr/>
        </p:nvSpPr>
        <p:spPr>
          <a:xfrm>
            <a:off x="5935287" y="845619"/>
            <a:ext cx="6061302" cy="2146963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dirty="0"/>
              <a:t>R1-8 (Augmentation on X data only)</a:t>
            </a:r>
          </a:p>
          <a:p>
            <a:pPr marL="0" indent="0">
              <a:buNone/>
            </a:pPr>
            <a:r>
              <a:rPr lang="en-US" b="1" dirty="0"/>
              <a:t>Shrink the model a lot and see if </a:t>
            </a:r>
            <a:r>
              <a:rPr lang="en-US" b="1" dirty="0" err="1"/>
              <a:t>val</a:t>
            </a:r>
            <a:r>
              <a:rPr lang="en-US" b="1" dirty="0"/>
              <a:t> responds:</a:t>
            </a:r>
            <a:endParaRPr lang="en-US" dirty="0"/>
          </a:p>
          <a:p>
            <a:pPr marL="0" lvl="0" indent="0">
              <a:buNone/>
            </a:pPr>
            <a:r>
              <a:rPr lang="en-US" dirty="0" err="1"/>
              <a:t>dmodel</a:t>
            </a:r>
            <a:r>
              <a:rPr lang="en-US" dirty="0"/>
              <a:t> = 32</a:t>
            </a:r>
            <a:br>
              <a:rPr lang="en-US" dirty="0"/>
            </a:br>
            <a:r>
              <a:rPr lang="en-US" dirty="0" err="1"/>
              <a:t>hidden_dims</a:t>
            </a:r>
            <a:r>
              <a:rPr lang="en-US" dirty="0"/>
              <a:t> = (16, 32)</a:t>
            </a:r>
            <a:br>
              <a:rPr lang="en-US" dirty="0"/>
            </a:br>
            <a:r>
              <a:rPr lang="en-US" dirty="0" err="1"/>
              <a:t>ffn_hidden</a:t>
            </a:r>
            <a:r>
              <a:rPr lang="en-US" dirty="0"/>
              <a:t> = 64</a:t>
            </a:r>
            <a:br>
              <a:rPr lang="en-US" dirty="0"/>
            </a:br>
            <a:r>
              <a:rPr lang="en-US" dirty="0" err="1"/>
              <a:t>num_spectral_blocks</a:t>
            </a:r>
            <a:r>
              <a:rPr lang="en-US" dirty="0"/>
              <a:t> = 1</a:t>
            </a:r>
            <a:br>
              <a:rPr lang="en-US" dirty="0"/>
            </a:br>
            <a:r>
              <a:rPr lang="en-US" dirty="0" err="1"/>
              <a:t>num_transformer_layers</a:t>
            </a:r>
            <a:r>
              <a:rPr lang="en-US" dirty="0"/>
              <a:t> = 1</a:t>
            </a:r>
            <a:br>
              <a:rPr lang="en-US" dirty="0"/>
            </a:br>
            <a:r>
              <a:rPr lang="en-US" dirty="0" err="1"/>
              <a:t>top_k_freq</a:t>
            </a:r>
            <a:r>
              <a:rPr lang="en-US" dirty="0"/>
              <a:t> = 8</a:t>
            </a:r>
          </a:p>
          <a:p>
            <a:pPr marL="91440">
              <a:lnSpc>
                <a:spcPct val="100000"/>
              </a:lnSpc>
            </a:pPr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1743B5B-5C39-EAA3-39D0-C815BF592B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582" y="2791287"/>
            <a:ext cx="5083420" cy="37923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42218FFC-ED06-5BD0-6335-9B0309E673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4988" y="2992582"/>
            <a:ext cx="5083420" cy="37923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68419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2CFBC5-2FB7-13FB-6C64-E24151FD27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27FE0-100D-97F7-6687-70A42BED54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498" y="274320"/>
            <a:ext cx="10653578" cy="532015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CNN vs GNN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878F7CC-D183-9DAD-692D-31082E4AE0CA}"/>
              </a:ext>
            </a:extLst>
          </p:cNvPr>
          <p:cNvSpPr txBox="1">
            <a:spLocks/>
          </p:cNvSpPr>
          <p:nvPr/>
        </p:nvSpPr>
        <p:spPr>
          <a:xfrm>
            <a:off x="452582" y="953684"/>
            <a:ext cx="5752406" cy="10923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">
              <a:lnSpc>
                <a:spcPct val="100000"/>
              </a:lnSpc>
            </a:pPr>
            <a:r>
              <a:rPr lang="en-US" dirty="0"/>
              <a:t>R1-8 (Augmentation on X data only and Magnitude only)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313C7F0-E659-3783-B5B6-EA7E07BCE907}"/>
              </a:ext>
            </a:extLst>
          </p:cNvPr>
          <p:cNvSpPr txBox="1">
            <a:spLocks/>
          </p:cNvSpPr>
          <p:nvPr/>
        </p:nvSpPr>
        <p:spPr>
          <a:xfrm>
            <a:off x="5935287" y="845620"/>
            <a:ext cx="6061302" cy="9000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/>
              <a:t>R1-9 </a:t>
            </a:r>
            <a:r>
              <a:rPr lang="en-US" dirty="0"/>
              <a:t>(Augmentation on X data, Mag only) and CNN encoder (Conv2d + Flatten + Linear)</a:t>
            </a:r>
          </a:p>
          <a:p>
            <a:pPr marL="0" indent="0">
              <a:lnSpc>
                <a:spcPct val="100000"/>
              </a:lnSpc>
              <a:buNone/>
            </a:pPr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061AD53-5062-4BCA-7203-8446092E9D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582" y="2791287"/>
            <a:ext cx="5083420" cy="37923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B464A6F8-5100-B554-D9FC-8764DF6775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4791" y="2791287"/>
            <a:ext cx="5282293" cy="3813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45291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F23F1-CD45-0545-94CD-7B4295801F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6A5CE-EC8F-A79C-FFBF-B17BC51F9F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498" y="274320"/>
            <a:ext cx="10653578" cy="532015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R_2-1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77642C-9D3F-58A2-6FEC-356FAA31B4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881" y="857991"/>
            <a:ext cx="5752406" cy="490278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91440">
              <a:lnSpc>
                <a:spcPct val="100000"/>
              </a:lnSpc>
            </a:pPr>
            <a:r>
              <a:rPr lang="da-DK" dirty="0"/>
              <a:t>New Code </a:t>
            </a:r>
            <a:r>
              <a:rPr lang="da-DK"/>
              <a:t>with out</a:t>
            </a:r>
            <a:r>
              <a:rPr lang="da-DK" dirty="0"/>
              <a:t> Augmentation</a:t>
            </a:r>
            <a:endParaRPr lang="en-US" dirty="0"/>
          </a:p>
          <a:p>
            <a:pPr marL="91440">
              <a:lnSpc>
                <a:spcPct val="100000"/>
              </a:lnSpc>
            </a:pPr>
            <a:r>
              <a:rPr lang="da-DK" dirty="0"/>
              <a:t>Toke 20 min to </a:t>
            </a:r>
            <a:r>
              <a:rPr lang="da-DK"/>
              <a:t>train.</a:t>
            </a:r>
            <a:endParaRPr lang="da-DK" dirty="0"/>
          </a:p>
        </p:txBody>
      </p:sp>
      <p:pic>
        <p:nvPicPr>
          <p:cNvPr id="5" name="Picture 4" descr="A graph with numbers and lines&#10;&#10;AI-generated content may be incorrect.">
            <a:extLst>
              <a:ext uri="{FF2B5EF4-FFF2-40B4-BE49-F238E27FC236}">
                <a16:creationId xmlns:a16="http://schemas.microsoft.com/office/drawing/2014/main" id="{00AD4AC0-3813-2158-007A-95D0C9B5ED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903" y="2393783"/>
            <a:ext cx="5859881" cy="4169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99470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03AA91-84A5-1128-28F8-061A64FD5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07DBE-DEE4-44D6-FF5F-5067B2F36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498" y="274320"/>
            <a:ext cx="10653578" cy="532015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GPT R3-1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8584CA-8E7A-83C8-2C49-A88DDA8801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881" y="857991"/>
            <a:ext cx="5326789" cy="1896935"/>
          </a:xfrm>
        </p:spPr>
        <p:txBody>
          <a:bodyPr numCol="2">
            <a:normAutofit/>
          </a:bodyPr>
          <a:lstStyle/>
          <a:p>
            <a:r>
              <a:rPr lang="en-US" sz="1200" dirty="0"/>
              <a:t> </a:t>
            </a:r>
            <a:r>
              <a:rPr lang="en-US" sz="1200" dirty="0" err="1"/>
              <a:t>batch_size</a:t>
            </a:r>
            <a:r>
              <a:rPr lang="en-US" sz="1200" dirty="0"/>
              <a:t>=32,</a:t>
            </a:r>
          </a:p>
          <a:p>
            <a:r>
              <a:rPr lang="en-US" sz="1200" dirty="0" err="1"/>
              <a:t>num_epochs</a:t>
            </a:r>
            <a:r>
              <a:rPr lang="en-US" sz="1200" dirty="0"/>
              <a:t>=40,</a:t>
            </a:r>
          </a:p>
          <a:p>
            <a:r>
              <a:rPr lang="en-US" sz="1200" dirty="0" err="1"/>
              <a:t>learning_rate</a:t>
            </a:r>
            <a:r>
              <a:rPr lang="en-US" sz="1200" dirty="0"/>
              <a:t>=0.001,</a:t>
            </a:r>
          </a:p>
          <a:p>
            <a:r>
              <a:rPr lang="en-US" sz="1200" dirty="0" err="1"/>
              <a:t>weight_decay</a:t>
            </a:r>
            <a:r>
              <a:rPr lang="en-US" sz="1200" dirty="0"/>
              <a:t>=0.0001,</a:t>
            </a:r>
          </a:p>
          <a:p>
            <a:r>
              <a:rPr lang="en-US" sz="1200" dirty="0" err="1"/>
              <a:t>d_model</a:t>
            </a:r>
            <a:r>
              <a:rPr lang="en-US" sz="1200" dirty="0"/>
              <a:t>=128,</a:t>
            </a:r>
          </a:p>
          <a:p>
            <a:r>
              <a:rPr lang="en-US" sz="1200" dirty="0" err="1"/>
              <a:t>cnn_channels</a:t>
            </a:r>
            <a:r>
              <a:rPr lang="en-US" sz="1200" dirty="0"/>
              <a:t>=[32, 64, 128],</a:t>
            </a:r>
          </a:p>
          <a:p>
            <a:r>
              <a:rPr lang="en-US" sz="1200" dirty="0" err="1"/>
              <a:t>num_decoder_layers</a:t>
            </a:r>
            <a:r>
              <a:rPr lang="en-US" sz="1200" dirty="0"/>
              <a:t>=4,</a:t>
            </a:r>
          </a:p>
          <a:p>
            <a:r>
              <a:rPr lang="en-US" sz="1200" dirty="0" err="1"/>
              <a:t>n_heads</a:t>
            </a:r>
            <a:r>
              <a:rPr lang="en-US" sz="1200" dirty="0"/>
              <a:t>=8,</a:t>
            </a:r>
          </a:p>
          <a:p>
            <a:r>
              <a:rPr lang="en-US" sz="1200" dirty="0"/>
              <a:t>dropout=0.1,</a:t>
            </a:r>
          </a:p>
          <a:p>
            <a:r>
              <a:rPr lang="en-US" sz="1200" dirty="0" err="1"/>
              <a:t>fourier_modes</a:t>
            </a:r>
            <a:r>
              <a:rPr lang="en-US" sz="1200" dirty="0"/>
              <a:t>=16</a:t>
            </a:r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EB48535-51D9-3986-C149-964BD8170E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1" y="3134617"/>
            <a:ext cx="4856242" cy="3723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954B973-437E-59C2-AFAA-8F1CB3ECFF09}"/>
              </a:ext>
            </a:extLst>
          </p:cNvPr>
          <p:cNvSpPr txBox="1">
            <a:spLocks/>
          </p:cNvSpPr>
          <p:nvPr/>
        </p:nvSpPr>
        <p:spPr>
          <a:xfrm>
            <a:off x="6388841" y="806335"/>
            <a:ext cx="5326789" cy="1896935"/>
          </a:xfrm>
          <a:prstGeom prst="rect">
            <a:avLst/>
          </a:prstGeom>
        </p:spPr>
        <p:txBody>
          <a:bodyPr vert="horz" lIns="91440" tIns="45720" rIns="91440" bIns="45720" numCol="2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strike="sngStrike" dirty="0"/>
              <a:t> </a:t>
            </a:r>
            <a:r>
              <a:rPr lang="en-US" sz="1200" strike="sngStrike" dirty="0" err="1"/>
              <a:t>batch_size</a:t>
            </a:r>
            <a:r>
              <a:rPr lang="en-US" sz="1200" strike="sngStrike" dirty="0"/>
              <a:t>=32,</a:t>
            </a:r>
          </a:p>
          <a:p>
            <a:r>
              <a:rPr lang="en-US" sz="1200" strike="sngStrike" dirty="0" err="1"/>
              <a:t>num_epochs</a:t>
            </a:r>
            <a:r>
              <a:rPr lang="en-US" sz="1200" strike="sngStrike" dirty="0"/>
              <a:t>=40,</a:t>
            </a:r>
          </a:p>
          <a:p>
            <a:r>
              <a:rPr lang="en-US" sz="1200" strike="sngStrike" dirty="0" err="1"/>
              <a:t>learning_rate</a:t>
            </a:r>
            <a:r>
              <a:rPr lang="en-US" sz="1200" strike="sngStrike" dirty="0"/>
              <a:t>=0.001,</a:t>
            </a:r>
          </a:p>
          <a:p>
            <a:r>
              <a:rPr lang="en-US" sz="1200" strike="sngStrike" dirty="0" err="1"/>
              <a:t>weight_decay</a:t>
            </a:r>
            <a:r>
              <a:rPr lang="en-US" sz="1200" strike="sngStrike" dirty="0"/>
              <a:t>=0.0001,</a:t>
            </a:r>
          </a:p>
          <a:p>
            <a:r>
              <a:rPr lang="en-US" sz="1200" dirty="0" err="1"/>
              <a:t>d_model</a:t>
            </a:r>
            <a:r>
              <a:rPr lang="en-US" sz="1200" dirty="0"/>
              <a:t>=64,</a:t>
            </a:r>
          </a:p>
          <a:p>
            <a:r>
              <a:rPr lang="en-US" sz="1200" strike="sngStrike" dirty="0" err="1"/>
              <a:t>cnn_channels</a:t>
            </a:r>
            <a:r>
              <a:rPr lang="en-US" sz="1200" strike="sngStrike" dirty="0"/>
              <a:t>=[32, 64, 128],</a:t>
            </a:r>
          </a:p>
          <a:p>
            <a:r>
              <a:rPr lang="en-US" sz="1200" dirty="0" err="1"/>
              <a:t>num_decoder_layers</a:t>
            </a:r>
            <a:r>
              <a:rPr lang="en-US" sz="1200" dirty="0"/>
              <a:t>=1,</a:t>
            </a:r>
          </a:p>
          <a:p>
            <a:r>
              <a:rPr lang="en-US" sz="1200" strike="sngStrike" dirty="0" err="1"/>
              <a:t>n_heads</a:t>
            </a:r>
            <a:r>
              <a:rPr lang="en-US" sz="1200" strike="sngStrike" dirty="0"/>
              <a:t>=8,</a:t>
            </a:r>
          </a:p>
          <a:p>
            <a:r>
              <a:rPr lang="en-US" sz="1200" strike="sngStrike" dirty="0"/>
              <a:t>dropout=0.1,</a:t>
            </a:r>
          </a:p>
          <a:p>
            <a:r>
              <a:rPr lang="en-US" sz="1200" strike="sngStrike" dirty="0" err="1"/>
              <a:t>fourier_modes</a:t>
            </a:r>
            <a:r>
              <a:rPr lang="en-US" sz="1200" strike="sngStrike" dirty="0"/>
              <a:t>=16</a:t>
            </a:r>
            <a:endParaRPr lang="en-US" strike="sngStrike" dirty="0"/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0FE287E7-D5B1-D42B-50B1-DAE8AAF406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9257" y="3041411"/>
            <a:ext cx="4856243" cy="3723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342378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8CBDB0-C424-B418-4CA4-46B7963246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BF0EF-E8B5-DC4B-E51C-40D6B96D3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498" y="274320"/>
            <a:ext cx="10653578" cy="532015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Gemini R1-0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6CD03A-5312-5EFC-AE97-7AD9C41CF6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880" y="857991"/>
            <a:ext cx="11869211" cy="1896935"/>
          </a:xfrm>
        </p:spPr>
        <p:txBody>
          <a:bodyPr numCol="4">
            <a:normAutofit fontScale="47500" lnSpcReduction="20000"/>
          </a:bodyPr>
          <a:lstStyle/>
          <a:p>
            <a:r>
              <a:rPr lang="en-US" dirty="0"/>
              <a:t># Data splitting and training parameters</a:t>
            </a:r>
          </a:p>
          <a:p>
            <a:r>
              <a:rPr lang="en-US" dirty="0"/>
              <a:t>TEST_SPLIT_RATIO = 0.2</a:t>
            </a:r>
          </a:p>
          <a:p>
            <a:r>
              <a:rPr lang="en-US" dirty="0"/>
              <a:t>RANDOM_SEED = 42</a:t>
            </a:r>
          </a:p>
          <a:p>
            <a:r>
              <a:rPr lang="en-US" dirty="0"/>
              <a:t>BATCH_SIZE = 32</a:t>
            </a:r>
          </a:p>
          <a:p>
            <a:r>
              <a:rPr lang="en-US" dirty="0"/>
              <a:t>EPOCHS = 50 </a:t>
            </a:r>
          </a:p>
          <a:p>
            <a:r>
              <a:rPr lang="en-US" dirty="0"/>
              <a:t>LEARNING_RATE = 1e-4</a:t>
            </a:r>
          </a:p>
          <a:p>
            <a:r>
              <a:rPr lang="en-US" dirty="0"/>
              <a:t># Augmentation and Noise parameters</a:t>
            </a:r>
          </a:p>
          <a:p>
            <a:r>
              <a:rPr lang="en-US" dirty="0"/>
              <a:t>APPLY_AUGMENTATION = True</a:t>
            </a:r>
          </a:p>
          <a:p>
            <a:r>
              <a:rPr lang="en-US" dirty="0"/>
              <a:t>APPLY_NOISE = True</a:t>
            </a:r>
          </a:p>
          <a:p>
            <a:r>
              <a:rPr lang="en-US" dirty="0"/>
              <a:t>NOISE_LEVEL = 0.05 # Std deviation for Gaussian noise</a:t>
            </a:r>
          </a:p>
          <a:p>
            <a:r>
              <a:rPr lang="en-US" dirty="0"/>
              <a:t>AUGMENTATION_FLIPS = True </a:t>
            </a:r>
          </a:p>
          <a:p>
            <a:r>
              <a:rPr lang="en-US" dirty="0"/>
              <a:t>AUGMENTATION_ROTATIONS = True</a:t>
            </a:r>
          </a:p>
          <a:p>
            <a:r>
              <a:rPr lang="en-US" dirty="0"/>
              <a:t># CNN Encoder parameters</a:t>
            </a:r>
          </a:p>
          <a:p>
            <a:r>
              <a:rPr lang="en-US" dirty="0"/>
              <a:t>ENC_FILTERS = [16, 32, 64]</a:t>
            </a:r>
          </a:p>
          <a:p>
            <a:r>
              <a:rPr lang="en-US" dirty="0"/>
              <a:t>ENC_KERNEL_SIZE = (3, 3)</a:t>
            </a:r>
          </a:p>
          <a:p>
            <a:r>
              <a:rPr lang="en-US" dirty="0"/>
              <a:t># </a:t>
            </a:r>
            <a:r>
              <a:rPr lang="en-US" dirty="0" err="1"/>
              <a:t>FEDformer</a:t>
            </a:r>
            <a:r>
              <a:rPr lang="en-US" dirty="0"/>
              <a:t> Decoder parameters</a:t>
            </a:r>
          </a:p>
          <a:p>
            <a:r>
              <a:rPr lang="en-US" dirty="0"/>
              <a:t># Simplified parameters for the attention block</a:t>
            </a:r>
          </a:p>
          <a:p>
            <a:r>
              <a:rPr lang="en-US" dirty="0"/>
              <a:t>D_MODEL = 64 # Dimension of the model (feature size)</a:t>
            </a:r>
          </a:p>
          <a:p>
            <a:r>
              <a:rPr lang="en-US" dirty="0"/>
              <a:t>N_HEADS = 8 # Number of attention heads</a:t>
            </a:r>
          </a:p>
          <a:p>
            <a:r>
              <a:rPr lang="en-US" dirty="0"/>
              <a:t>DROPOUT_RATE = 0.1</a:t>
            </a:r>
          </a:p>
          <a:p>
            <a:r>
              <a:rPr lang="en-US" dirty="0"/>
              <a:t>N_LAYERS = 2 # Number of encoder/decoder layers</a:t>
            </a:r>
          </a:p>
          <a:p>
            <a:endParaRPr 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639DD7B6-5637-598D-E9E9-3256CA0064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754926"/>
            <a:ext cx="5977616" cy="38287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2B7FDB5B-47AB-13C4-C265-9BD3C6B5F7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2894" y="2754926"/>
            <a:ext cx="4048605" cy="4051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65095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C9D7BA-EE14-0DE4-14F0-54F064C62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10066-8563-B029-0962-E577CCBAB7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498" y="274320"/>
            <a:ext cx="10653578" cy="532015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ChatGPT R3-3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83E3E2-8AD1-1A44-7787-1E6F317BC1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880" y="857992"/>
            <a:ext cx="11869211" cy="684482"/>
          </a:xfrm>
        </p:spPr>
        <p:txBody>
          <a:bodyPr numCol="1">
            <a:normAutofit/>
          </a:bodyPr>
          <a:lstStyle/>
          <a:p>
            <a:r>
              <a:rPr lang="en-US" dirty="0"/>
              <a:t>Tiny CNN model (5k-50k params)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1DD1990-F8DD-48D6-CF30-FA98C022BA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855" y="2665335"/>
            <a:ext cx="5228504" cy="40088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C15E8788-1AF5-1CAA-F536-382C471059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4316" y="2630699"/>
            <a:ext cx="5765606" cy="3697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15009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0C20B8-4C59-A83B-FB2C-A576D13DC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8DB9B-C735-70AD-C337-8EC8990F2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498" y="274320"/>
            <a:ext cx="10653578" cy="532015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ChatGPT R3-4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5C1FC8-FDAD-D3E3-627A-3F8EF77460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880" y="857992"/>
            <a:ext cx="11869211" cy="684482"/>
          </a:xfrm>
        </p:spPr>
        <p:txBody>
          <a:bodyPr numCol="1">
            <a:normAutofit/>
          </a:bodyPr>
          <a:lstStyle/>
          <a:p>
            <a:r>
              <a:rPr lang="en-US" dirty="0"/>
              <a:t>Random Forest / </a:t>
            </a:r>
            <a:r>
              <a:rPr lang="en-US" dirty="0" err="1"/>
              <a:t>ExtraTrees</a:t>
            </a:r>
            <a:r>
              <a:rPr lang="en-US" dirty="0"/>
              <a:t> baseline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BE183250-1CFB-BB20-CA88-93FE140DD3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623" y="2465829"/>
            <a:ext cx="5283919" cy="40512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191F2FA6-620E-E6CC-999A-CB66F42052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7485" y="2638343"/>
            <a:ext cx="5737602" cy="3679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060274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66166-5A96-0B41-2158-1C389BA93E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AF2B2-77F2-E2D5-3C84-305B0BD6D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498" y="274320"/>
            <a:ext cx="10653578" cy="532015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ChatGPT R3-5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A63CE6-E931-A0DC-4E25-44D5944C97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880" y="857992"/>
            <a:ext cx="11869211" cy="684482"/>
          </a:xfrm>
        </p:spPr>
        <p:txBody>
          <a:bodyPr numCol="1">
            <a:normAutofit/>
          </a:bodyPr>
          <a:lstStyle/>
          <a:p>
            <a:r>
              <a:rPr lang="en-US" dirty="0"/>
              <a:t>Resonance-weighted loss (prioritize regions below threshold)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80751360-B374-FFF3-BFFF-9C848BD0B2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68" y="2106930"/>
            <a:ext cx="5838825" cy="4476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CB50B337-2D82-A360-7660-4E24DF4157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6653" y="2381726"/>
            <a:ext cx="6124069" cy="39271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745255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BCD903-9069-C8F2-A975-58CE67869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FEF87-2E5D-D6CC-F77D-9207E14F1C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498" y="274320"/>
            <a:ext cx="10653578" cy="532015"/>
          </a:xfrm>
        </p:spPr>
        <p:txBody>
          <a:bodyPr>
            <a:normAutofit fontScale="90000"/>
          </a:bodyPr>
          <a:lstStyle/>
          <a:p>
            <a:pPr algn="ctr"/>
            <a:r>
              <a:rPr lang="en-US"/>
              <a:t>ChatGPT R3-6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B52140-2F7C-7A06-8054-0CFC4972F7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880" y="857992"/>
            <a:ext cx="11869211" cy="684482"/>
          </a:xfrm>
        </p:spPr>
        <p:txBody>
          <a:bodyPr numCol="1">
            <a:normAutofit fontScale="92500" lnSpcReduction="20000"/>
          </a:bodyPr>
          <a:lstStyle/>
          <a:p>
            <a:r>
              <a:rPr lang="en-US" dirty="0"/>
              <a:t>Add </a:t>
            </a:r>
            <a:r>
              <a:rPr lang="en-US" b="1" dirty="0"/>
              <a:t>2D positional information (row/col coordinates)</a:t>
            </a:r>
            <a:r>
              <a:rPr lang="en-US" dirty="0"/>
              <a:t> to your existing </a:t>
            </a:r>
            <a:r>
              <a:rPr lang="en-US" b="1" dirty="0"/>
              <a:t>CNN encoder</a:t>
            </a:r>
            <a:r>
              <a:rPr lang="en-US" dirty="0"/>
              <a:t> cleanly by </a:t>
            </a:r>
            <a:r>
              <a:rPr lang="en-US" b="1" dirty="0"/>
              <a:t>concatenating two extra coordinate channels</a:t>
            </a:r>
            <a:r>
              <a:rPr lang="en-US" dirty="0"/>
              <a:t> to the 1×10×10 geometry input. </a:t>
            </a:r>
            <a:r>
              <a:rPr lang="pl-PL" dirty="0"/>
              <a:t>x: </a:t>
            </a:r>
            <a:r>
              <a:rPr lang="pl-PL" b="1" dirty="0"/>
              <a:t>(B, 1, 10, 10)</a:t>
            </a:r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8628674-4079-A020-C8DA-C07A5D2CB2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795" y="1982548"/>
            <a:ext cx="5410459" cy="4148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B50C6F75-E004-FD45-1BDD-CA50AC5060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2500" y="2055769"/>
            <a:ext cx="6150705" cy="39442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5236819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6725af31-8d42-4238-bea5-e565bdb23562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84FCB6878A4494C9492A48095AB130D" ma:contentTypeVersion="10" ma:contentTypeDescription="Create a new document." ma:contentTypeScope="" ma:versionID="06054d1c06038466c7979869ab0d965a">
  <xsd:schema xmlns:xsd="http://www.w3.org/2001/XMLSchema" xmlns:xs="http://www.w3.org/2001/XMLSchema" xmlns:p="http://schemas.microsoft.com/office/2006/metadata/properties" xmlns:ns3="6725af31-8d42-4238-bea5-e565bdb23562" targetNamespace="http://schemas.microsoft.com/office/2006/metadata/properties" ma:root="true" ma:fieldsID="5293b02769ec94591c470eae21a42657" ns3:_="">
    <xsd:import namespace="6725af31-8d42-4238-bea5-e565bdb2356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  <xsd:element ref="ns3:_activity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725af31-8d42-4238-bea5-e565bdb2356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73D6DEA-AF15-4435-973E-2521883AB60C}">
  <ds:schemaRefs>
    <ds:schemaRef ds:uri="6725af31-8d42-4238-bea5-e565bdb23562"/>
    <ds:schemaRef ds:uri="http://schemas.microsoft.com/office/2006/metadata/properties"/>
    <ds:schemaRef ds:uri="http://schemas.microsoft.com/office/2006/documentManagement/types"/>
    <ds:schemaRef ds:uri="http://purl.org/dc/elements/1.1/"/>
    <ds:schemaRef ds:uri="http://purl.org/dc/dcmitype/"/>
    <ds:schemaRef ds:uri="http://schemas.openxmlformats.org/package/2006/metadata/core-properties"/>
    <ds:schemaRef ds:uri="http://schemas.microsoft.com/office/infopath/2007/PartnerControls"/>
    <ds:schemaRef ds:uri="http://www.w3.org/XML/1998/namespace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D90511E9-59A8-49FE-A391-09FEAB004E2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725af31-8d42-4238-bea5-e565bdb2356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AC3DC4D-964F-4AF4-BE8F-A519368331C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6010</TotalTime>
  <Words>672</Words>
  <Application>Microsoft Office PowerPoint</Application>
  <PresentationFormat>Widescreen</PresentationFormat>
  <Paragraphs>95</Paragraphs>
  <Slides>15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Neue Haas Grotesk Text Pro</vt:lpstr>
      <vt:lpstr>VanillaVTI</vt:lpstr>
      <vt:lpstr>AI Patch Antenna Design</vt:lpstr>
      <vt:lpstr> dmodel and ffn_hidden </vt:lpstr>
      <vt:lpstr>Num _ trasformer_ layers</vt:lpstr>
      <vt:lpstr>Dropout and Weight Decay</vt:lpstr>
      <vt:lpstr>Augmentation on X Data</vt:lpstr>
      <vt:lpstr>Real Value, Magnitude Only</vt:lpstr>
      <vt:lpstr>Shrink Model</vt:lpstr>
      <vt:lpstr>CNN vs GNN</vt:lpstr>
      <vt:lpstr>R_2-1</vt:lpstr>
      <vt:lpstr>GPT R3-1</vt:lpstr>
      <vt:lpstr>Gemini R1-0 </vt:lpstr>
      <vt:lpstr>ChatGPT R3-3 </vt:lpstr>
      <vt:lpstr>ChatGPT R3-4 </vt:lpstr>
      <vt:lpstr>ChatGPT R3-5 </vt:lpstr>
      <vt:lpstr>ChatGPT R3-6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Iman Miraki</dc:creator>
  <cp:lastModifiedBy>Iman Miraki</cp:lastModifiedBy>
  <cp:revision>1</cp:revision>
  <dcterms:created xsi:type="dcterms:W3CDTF">2025-11-13T00:37:05Z</dcterms:created>
  <dcterms:modified xsi:type="dcterms:W3CDTF">2026-01-25T18:53:29Z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0x010100484FCB6878A4494C9492A48095AB130D</vt:lpwstr>
  </property>
</Properties>
</file>